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Cormorant Garamond Bold Italics" panose="020B0604020202020204" charset="0"/>
      <p:regular r:id="rId25"/>
    </p:embeddedFont>
    <p:embeddedFont>
      <p:font typeface="Quicksand" panose="020B0604020202020204" charset="0"/>
      <p:regular r:id="rId26"/>
    </p:embeddedFont>
    <p:embeddedFont>
      <p:font typeface="Quicksand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954" y="7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MT is no longer just a translation tool, it has wide applications in chatbots, voice assistants, and AI translates in many services. (Eg. Siri, Alexxa, Insta Translate)</a:t>
            </a:r>
          </a:p>
          <a:p>
            <a:endParaRPr lang="en-US"/>
          </a:p>
          <a:p>
            <a:r>
              <a:rPr lang="en-US"/>
              <a:t>The initial developments of MT:</a:t>
            </a:r>
          </a:p>
          <a:p>
            <a:r>
              <a:rPr lang="en-US"/>
              <a:t>RBMT</a:t>
            </a:r>
          </a:p>
          <a:p>
            <a:r>
              <a:rPr lang="en-US"/>
              <a:t>SMT</a:t>
            </a:r>
          </a:p>
          <a:p>
            <a:r>
              <a:rPr lang="en-US"/>
              <a:t>NMT, deep learning </a:t>
            </a:r>
          </a:p>
          <a:p>
            <a:r>
              <a:rPr lang="en-US"/>
              <a:t>Transformers make use of encoder-decoder layers, alongwith attention modules, introduced the concept of parallelization.</a:t>
            </a:r>
          </a:p>
          <a:p>
            <a:r>
              <a:rPr lang="en-US"/>
              <a:t>Eg. IndicTrans2, NLLB-200</a:t>
            </a:r>
          </a:p>
          <a:p>
            <a:r>
              <a:rPr lang="en-US"/>
              <a:t>General Purpose LLMs: these have huge set of parameters, and trained on large datasets, are very efficient, mainly transformers are heavily used.</a:t>
            </a:r>
          </a:p>
          <a:p>
            <a:r>
              <a:rPr lang="en-US"/>
              <a:t>Agentic AI translation are autonomous framework for mt, with almost minimal human interaction, gives direction to LLMs, iterative.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Agentic AI: autonomous, and it supports agents in our model</a:t>
            </a:r>
          </a:p>
          <a:p>
            <a:r>
              <a:rPr lang="en-US"/>
              <a:t>LangGraph to implement the concept of Agentic AI.</a:t>
            </a:r>
          </a:p>
          <a:p>
            <a:r>
              <a:rPr lang="en-US"/>
              <a:t>Langgraph is a graph-based execution model.</a:t>
            </a:r>
          </a:p>
          <a:p>
            <a:r>
              <a:rPr lang="en-US"/>
              <a:t>Graph</a:t>
            </a:r>
          </a:p>
          <a:p>
            <a:r>
              <a:rPr lang="en-US"/>
              <a:t>Nodes: functions, agents, LLM calls</a:t>
            </a:r>
          </a:p>
          <a:p>
            <a:r>
              <a:rPr lang="en-US"/>
              <a:t>Edges: transitions between steps, and instructions</a:t>
            </a:r>
          </a:p>
          <a:p>
            <a:r>
              <a:rPr lang="en-US"/>
              <a:t>State: shared memory passed across nodes</a:t>
            </a:r>
          </a:p>
          <a:p>
            <a:r>
              <a:rPr lang="en-US"/>
              <a:t>Langgraph: state machine+directed graph execution</a:t>
            </a:r>
          </a:p>
          <a:p>
            <a:r>
              <a:rPr lang="en-US"/>
              <a:t>1. execute node</a:t>
            </a:r>
          </a:p>
          <a:p>
            <a:r>
              <a:rPr lang="en-US"/>
              <a:t>2. update state</a:t>
            </a:r>
          </a:p>
          <a:p>
            <a:r>
              <a:rPr lang="en-US"/>
              <a:t>3. decide next node</a:t>
            </a:r>
          </a:p>
          <a:p>
            <a:r>
              <a:rPr lang="en-US"/>
              <a:t>4. continue until END</a:t>
            </a:r>
          </a:p>
          <a:p>
            <a:endParaRPr lang="en-US"/>
          </a:p>
          <a:p>
            <a:r>
              <a:rPr lang="en-US"/>
              <a:t>MCP (model context protocol): It is a standard for LLMs to securely connect with external tools, data sources and systems in a structured, interoperable way.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LoRA (Low Rank Adaptation)</a:t>
            </a:r>
          </a:p>
          <a:p>
            <a:r>
              <a:rPr lang="en-US"/>
              <a:t>- fine-tuning technique</a:t>
            </a:r>
          </a:p>
          <a:p>
            <a:r>
              <a:rPr lang="en-US"/>
              <a:t>- parameter-efficient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LaBSE</a:t>
            </a:r>
          </a:p>
          <a:p>
            <a:r>
              <a:rPr lang="en-US"/>
              <a:t>convert text into language-independent embeddings</a:t>
            </a:r>
          </a:p>
          <a:p>
            <a:r>
              <a:rPr lang="en-US"/>
              <a:t>(Language agnostic BERT Sentence Embedding)</a:t>
            </a:r>
          </a:p>
          <a:p>
            <a:r>
              <a:rPr lang="en-US"/>
              <a:t>is a model developed by Google that maps sentences from different languages into a shared vector space.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wordnet: Lexical 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341628"/>
            <a:ext cx="16229942" cy="3561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20"/>
              </a:lnSpc>
              <a:spcBef>
                <a:spcPct val="0"/>
              </a:spcBef>
            </a:pPr>
            <a:r>
              <a:rPr lang="en-US" sz="6800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Agentic Memory-Augmented Neural Machine Translation for English-Hindi with LoRA-Optimized Large Language Models</a:t>
            </a:r>
          </a:p>
        </p:txBody>
      </p:sp>
      <p:sp>
        <p:nvSpPr>
          <p:cNvPr id="3" name="AutoShape 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9618706" y="90374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37539" y="5937050"/>
            <a:ext cx="12812922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900"/>
              </a:lnSpc>
              <a:spcBef>
                <a:spcPct val="0"/>
              </a:spcBef>
            </a:pPr>
            <a:r>
              <a:rPr lang="en-US" sz="3500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Project Supervisor</a:t>
            </a:r>
            <a:r>
              <a:rPr lang="en-US" sz="35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: - Prof. Amit Kumar Singh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15596" y="7824843"/>
            <a:ext cx="6988496" cy="525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26 April, 2026</a:t>
            </a:r>
          </a:p>
        </p:txBody>
      </p:sp>
      <p:sp>
        <p:nvSpPr>
          <p:cNvPr id="8" name="Freeform 8"/>
          <p:cNvSpPr/>
          <p:nvPr/>
        </p:nvSpPr>
        <p:spPr>
          <a:xfrm>
            <a:off x="5646742" y="8078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752274" y="6875518"/>
            <a:ext cx="12812922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900"/>
              </a:lnSpc>
              <a:spcBef>
                <a:spcPct val="0"/>
              </a:spcBef>
            </a:pPr>
            <a:r>
              <a:rPr lang="en-US" sz="3500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Presented By</a:t>
            </a:r>
            <a:r>
              <a:rPr lang="en-US" sz="35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: - Divyanshi Chauhan, 21074012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4099486"/>
            <a:chOff x="0" y="0"/>
            <a:chExt cx="4816593" cy="1079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079700"/>
            </a:xfrm>
            <a:custGeom>
              <a:avLst/>
              <a:gdLst/>
              <a:ahLst/>
              <a:cxnLst/>
              <a:rect l="l" t="t" r="r" b="b"/>
              <a:pathLst>
                <a:path w="4816592" h="1079700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19915" y="147456"/>
            <a:ext cx="9914964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sng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Contents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74143" y="1348182"/>
            <a:ext cx="7423441" cy="775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AutoNum type="arabicPeriod"/>
            </a:pPr>
            <a:r>
              <a:rPr lang="en-US" sz="2600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Introduction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280671" lvl="1" algn="l">
              <a:lnSpc>
                <a:spcPts val="3640"/>
              </a:lnSpc>
            </a:pPr>
            <a:r>
              <a:rPr lang="en-US" sz="2600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2. Agentic AI Framework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280671" lvl="1" algn="l">
              <a:lnSpc>
                <a:spcPts val="3640"/>
              </a:lnSpc>
            </a:pPr>
            <a:r>
              <a:rPr lang="en-US" sz="2600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3. Objective of the Proposed Model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280671" lvl="1" algn="l">
              <a:lnSpc>
                <a:spcPts val="3640"/>
              </a:lnSpc>
            </a:pPr>
            <a:r>
              <a:rPr lang="en-US" sz="2600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4. Proposed Model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280671" lvl="1" algn="l">
              <a:lnSpc>
                <a:spcPts val="3640"/>
              </a:lnSpc>
            </a:pPr>
            <a:r>
              <a:rPr lang="en-US" sz="2600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5. Evaluation Metrics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280671" lvl="1" algn="l">
              <a:lnSpc>
                <a:spcPts val="3640"/>
              </a:lnSpc>
            </a:pPr>
            <a:r>
              <a:rPr lang="en-US" sz="2600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6. Results and Analysis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280671" lvl="1" algn="l">
              <a:lnSpc>
                <a:spcPts val="3640"/>
              </a:lnSpc>
            </a:pPr>
            <a:r>
              <a:rPr lang="en-US" sz="2600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7. Model Analysis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280671" lvl="1" algn="l">
              <a:lnSpc>
                <a:spcPts val="3640"/>
              </a:lnSpc>
            </a:pPr>
            <a:r>
              <a:rPr lang="en-US" sz="2600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8. Future Scope and Conclusion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280671" lvl="1" algn="l">
              <a:lnSpc>
                <a:spcPts val="364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9. Referred Papers</a:t>
            </a:r>
          </a:p>
        </p:txBody>
      </p:sp>
      <p:sp>
        <p:nvSpPr>
          <p:cNvPr id="7" name="AutoShape 7"/>
          <p:cNvSpPr/>
          <p:nvPr/>
        </p:nvSpPr>
        <p:spPr>
          <a:xfrm>
            <a:off x="5897880" y="930340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8304001" y="978411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135938"/>
            <a:ext cx="3770637" cy="118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2904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Seq-to-seq Models</a:t>
            </a:r>
          </a:p>
          <a:p>
            <a:pPr marL="0" lvl="0" indent="0" algn="l">
              <a:lnSpc>
                <a:spcPts val="4937"/>
              </a:lnSpc>
            </a:pPr>
            <a:r>
              <a:rPr lang="en-US" sz="2904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Transformers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599709"/>
            <a:ext cx="804816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sng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95078" y="2135938"/>
            <a:ext cx="3770637" cy="118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2904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General Purpose </a:t>
            </a:r>
          </a:p>
          <a:p>
            <a:pPr marL="0" lvl="0" indent="0" algn="l">
              <a:lnSpc>
                <a:spcPts val="4937"/>
              </a:lnSpc>
            </a:pPr>
            <a:r>
              <a:rPr lang="en-US" sz="2904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LLMs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61165" y="2135938"/>
            <a:ext cx="3770637" cy="118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2904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Agentic AI</a:t>
            </a:r>
          </a:p>
          <a:p>
            <a:pPr marL="0" lvl="0" indent="0" algn="l">
              <a:lnSpc>
                <a:spcPts val="4937"/>
              </a:lnSpc>
            </a:pPr>
            <a:r>
              <a:rPr lang="en-US" sz="2904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Translation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772609"/>
            <a:ext cx="3770637" cy="3663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025" lvl="1" indent="-313513" algn="l">
              <a:lnSpc>
                <a:spcPts val="4937"/>
              </a:lnSpc>
              <a:buFont typeface="Arial"/>
              <a:buChar char="•"/>
            </a:pPr>
            <a:r>
              <a:rPr lang="en-US" sz="290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Linear translation</a:t>
            </a:r>
          </a:p>
          <a:p>
            <a:pPr marL="627025" lvl="1" indent="-313513" algn="l">
              <a:lnSpc>
                <a:spcPts val="4937"/>
              </a:lnSpc>
              <a:buFont typeface="Arial"/>
              <a:buChar char="•"/>
            </a:pPr>
            <a:r>
              <a:rPr lang="en-US" sz="290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Static knowledge</a:t>
            </a:r>
          </a:p>
          <a:p>
            <a:pPr marL="627025" lvl="1" indent="-313513" algn="l">
              <a:lnSpc>
                <a:spcPts val="4937"/>
              </a:lnSpc>
              <a:buFont typeface="Arial"/>
              <a:buChar char="•"/>
            </a:pPr>
            <a:r>
              <a:rPr lang="en-US" sz="290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No self-correction</a:t>
            </a:r>
          </a:p>
          <a:p>
            <a:pPr marL="627025" lvl="1" indent="-313513" algn="l">
              <a:lnSpc>
                <a:spcPts val="4937"/>
              </a:lnSpc>
              <a:buFont typeface="Arial"/>
              <a:buChar char="•"/>
            </a:pPr>
            <a:r>
              <a:rPr lang="en-US" sz="290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Limited context</a:t>
            </a:r>
          </a:p>
          <a:p>
            <a:pPr marL="627025" lvl="1" indent="-313513" algn="l">
              <a:lnSpc>
                <a:spcPts val="4937"/>
              </a:lnSpc>
              <a:buFont typeface="Arial"/>
              <a:buChar char="•"/>
            </a:pPr>
            <a:r>
              <a:rPr lang="en-US" sz="290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Weak for low-resource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97217" y="3737244"/>
            <a:ext cx="4194624" cy="3663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025" lvl="1" indent="-313513" algn="l">
              <a:lnSpc>
                <a:spcPts val="4937"/>
              </a:lnSpc>
              <a:buFont typeface="Arial"/>
              <a:buChar char="•"/>
            </a:pPr>
            <a:r>
              <a:rPr lang="en-US" sz="290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Fluent translations</a:t>
            </a:r>
          </a:p>
          <a:p>
            <a:pPr marL="627025" lvl="1" indent="-313513" algn="l">
              <a:lnSpc>
                <a:spcPts val="4937"/>
              </a:lnSpc>
              <a:buFont typeface="Arial"/>
              <a:buChar char="•"/>
            </a:pPr>
            <a:r>
              <a:rPr lang="en-US" sz="290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Prompt-based adaptation</a:t>
            </a:r>
          </a:p>
          <a:p>
            <a:pPr marL="627025" lvl="1" indent="-313513" algn="l">
              <a:lnSpc>
                <a:spcPts val="4937"/>
              </a:lnSpc>
              <a:buFont typeface="Arial"/>
              <a:buChar char="•"/>
            </a:pPr>
            <a:r>
              <a:rPr lang="en-US" sz="290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Moderate reasoning</a:t>
            </a:r>
          </a:p>
          <a:p>
            <a:pPr marL="627025" lvl="1" indent="-313513" algn="l">
              <a:lnSpc>
                <a:spcPts val="4937"/>
              </a:lnSpc>
              <a:buFont typeface="Arial"/>
              <a:buChar char="•"/>
            </a:pPr>
            <a:r>
              <a:rPr lang="en-US" sz="290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No iteration loop</a:t>
            </a:r>
          </a:p>
          <a:p>
            <a:pPr marL="627025" lvl="1" indent="-313513" algn="l">
              <a:lnSpc>
                <a:spcPts val="4937"/>
              </a:lnSpc>
              <a:buFont typeface="Arial"/>
              <a:buChar char="•"/>
            </a:pPr>
            <a:r>
              <a:rPr lang="en-US" sz="290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Limited consistency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6398" y="3772609"/>
            <a:ext cx="5438321" cy="3663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025" lvl="1" indent="-313513" algn="l">
              <a:lnSpc>
                <a:spcPts val="4937"/>
              </a:lnSpc>
              <a:buFont typeface="Arial"/>
              <a:buChar char="•"/>
            </a:pPr>
            <a:r>
              <a:rPr lang="en-US" sz="290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Iterative reasoning loop</a:t>
            </a:r>
          </a:p>
          <a:p>
            <a:pPr marL="627025" lvl="1" indent="-313513" algn="l">
              <a:lnSpc>
                <a:spcPts val="4937"/>
              </a:lnSpc>
              <a:buFont typeface="Arial"/>
              <a:buChar char="•"/>
            </a:pPr>
            <a:r>
              <a:rPr lang="en-US" sz="290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Self-correction via agents</a:t>
            </a:r>
          </a:p>
          <a:p>
            <a:pPr marL="627025" lvl="1" indent="-313513" algn="l">
              <a:lnSpc>
                <a:spcPts val="4937"/>
              </a:lnSpc>
              <a:buFont typeface="Arial"/>
              <a:buChar char="•"/>
            </a:pPr>
            <a:r>
              <a:rPr lang="en-US" sz="290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Memory-driven consistency</a:t>
            </a:r>
          </a:p>
          <a:p>
            <a:pPr marL="627025" lvl="1" indent="-313513" algn="l">
              <a:lnSpc>
                <a:spcPts val="4937"/>
              </a:lnSpc>
              <a:buFont typeface="Arial"/>
              <a:buChar char="•"/>
            </a:pPr>
            <a:r>
              <a:rPr lang="en-US" sz="290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Dynamic knowledge access</a:t>
            </a:r>
          </a:p>
          <a:p>
            <a:pPr marL="627025" lvl="1" indent="-313513" algn="l">
              <a:lnSpc>
                <a:spcPts val="4937"/>
              </a:lnSpc>
              <a:buFont typeface="Arial"/>
              <a:buChar char="•"/>
            </a:pPr>
            <a:r>
              <a:rPr lang="en-US" sz="290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Strong low-resource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93893" y="15849"/>
            <a:ext cx="4194107" cy="10271151"/>
            <a:chOff x="0" y="0"/>
            <a:chExt cx="1104621" cy="27051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48181" y="1933222"/>
            <a:ext cx="13545712" cy="8046082"/>
          </a:xfrm>
          <a:custGeom>
            <a:avLst/>
            <a:gdLst/>
            <a:ahLst/>
            <a:cxnLst/>
            <a:rect l="l" t="t" r="r" b="b"/>
            <a:pathLst>
              <a:path w="13545712" h="8046082">
                <a:moveTo>
                  <a:pt x="0" y="0"/>
                </a:moveTo>
                <a:lnTo>
                  <a:pt x="13545712" y="0"/>
                </a:lnTo>
                <a:lnTo>
                  <a:pt x="13545712" y="8046082"/>
                </a:lnTo>
                <a:lnTo>
                  <a:pt x="0" y="80460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599709"/>
            <a:ext cx="939024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sng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Agentic AI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93893" y="15849"/>
            <a:ext cx="4194107" cy="10271151"/>
            <a:chOff x="0" y="0"/>
            <a:chExt cx="1104621" cy="27051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599709"/>
            <a:ext cx="939024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sng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Fine Tuning Process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60716" y="1760171"/>
            <a:ext cx="8526106" cy="8310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3"/>
              </a:lnSpc>
              <a:spcBef>
                <a:spcPct val="0"/>
              </a:spcBef>
            </a:pPr>
            <a:r>
              <a:rPr lang="en-US" sz="2302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Samanantar Dataset (10,000 pairs)</a:t>
            </a:r>
          </a:p>
          <a:p>
            <a:pPr algn="ctr">
              <a:lnSpc>
                <a:spcPts val="3913"/>
              </a:lnSpc>
              <a:spcBef>
                <a:spcPct val="0"/>
              </a:spcBef>
            </a:pPr>
            <a:r>
              <a:rPr lang="en-US" sz="2302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     ↓</a:t>
            </a:r>
          </a:p>
          <a:p>
            <a:pPr algn="ctr">
              <a:lnSpc>
                <a:spcPts val="3913"/>
              </a:lnSpc>
              <a:spcBef>
                <a:spcPct val="0"/>
              </a:spcBef>
            </a:pPr>
            <a:r>
              <a:rPr lang="en-US" sz="2302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Preprocessing &amp; Formatting</a:t>
            </a:r>
          </a:p>
          <a:p>
            <a:pPr algn="ctr">
              <a:lnSpc>
                <a:spcPts val="3913"/>
              </a:lnSpc>
              <a:spcBef>
                <a:spcPct val="0"/>
              </a:spcBef>
            </a:pPr>
            <a:r>
              <a:rPr lang="en-US" sz="2302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     ↓</a:t>
            </a:r>
          </a:p>
          <a:p>
            <a:pPr algn="ctr">
              <a:lnSpc>
                <a:spcPts val="3913"/>
              </a:lnSpc>
              <a:spcBef>
                <a:spcPct val="0"/>
              </a:spcBef>
            </a:pPr>
            <a:r>
              <a:rPr lang="en-US" sz="2302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4-bit Quantization of OPT-1.3B</a:t>
            </a:r>
          </a:p>
          <a:p>
            <a:pPr algn="ctr">
              <a:lnSpc>
                <a:spcPts val="3913"/>
              </a:lnSpc>
              <a:spcBef>
                <a:spcPct val="0"/>
              </a:spcBef>
            </a:pPr>
            <a:r>
              <a:rPr lang="en-US" sz="2302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     ↓</a:t>
            </a:r>
          </a:p>
          <a:p>
            <a:pPr algn="ctr">
              <a:lnSpc>
                <a:spcPts val="3913"/>
              </a:lnSpc>
              <a:spcBef>
                <a:spcPct val="0"/>
              </a:spcBef>
            </a:pPr>
            <a:r>
              <a:rPr lang="en-US" sz="2302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LoRA Adapter Injection</a:t>
            </a:r>
          </a:p>
          <a:p>
            <a:pPr algn="ctr">
              <a:lnSpc>
                <a:spcPts val="3913"/>
              </a:lnSpc>
              <a:spcBef>
                <a:spcPct val="0"/>
              </a:spcBef>
            </a:pPr>
            <a:r>
              <a:rPr lang="en-US" sz="2302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     ↓</a:t>
            </a:r>
          </a:p>
          <a:p>
            <a:pPr algn="ctr">
              <a:lnSpc>
                <a:spcPts val="3913"/>
              </a:lnSpc>
              <a:spcBef>
                <a:spcPct val="0"/>
              </a:spcBef>
            </a:pPr>
            <a:r>
              <a:rPr lang="en-US" sz="2302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Forward Pass → Loss Computation</a:t>
            </a:r>
          </a:p>
          <a:p>
            <a:pPr algn="ctr">
              <a:lnSpc>
                <a:spcPts val="3913"/>
              </a:lnSpc>
              <a:spcBef>
                <a:spcPct val="0"/>
              </a:spcBef>
            </a:pPr>
            <a:r>
              <a:rPr lang="en-US" sz="2302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     ↓</a:t>
            </a:r>
          </a:p>
          <a:p>
            <a:pPr algn="ctr">
              <a:lnSpc>
                <a:spcPts val="3913"/>
              </a:lnSpc>
              <a:spcBef>
                <a:spcPct val="0"/>
              </a:spcBef>
            </a:pPr>
            <a:r>
              <a:rPr lang="en-US" sz="2302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Backward Pass → Gradient Update (LoRA only)</a:t>
            </a:r>
          </a:p>
          <a:p>
            <a:pPr algn="ctr">
              <a:lnSpc>
                <a:spcPts val="3913"/>
              </a:lnSpc>
              <a:spcBef>
                <a:spcPct val="0"/>
              </a:spcBef>
            </a:pPr>
            <a:r>
              <a:rPr lang="en-US" sz="2302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     ↓</a:t>
            </a:r>
          </a:p>
          <a:p>
            <a:pPr algn="ctr">
              <a:lnSpc>
                <a:spcPts val="3913"/>
              </a:lnSpc>
              <a:spcBef>
                <a:spcPct val="0"/>
              </a:spcBef>
            </a:pPr>
            <a:r>
              <a:rPr lang="en-US" sz="2302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Repeat for 3 epochs (30,000 steps total)</a:t>
            </a:r>
          </a:p>
          <a:p>
            <a:pPr algn="ctr">
              <a:lnSpc>
                <a:spcPts val="3913"/>
              </a:lnSpc>
              <a:spcBef>
                <a:spcPct val="0"/>
              </a:spcBef>
            </a:pPr>
            <a:r>
              <a:rPr lang="en-US" sz="2302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     ↓</a:t>
            </a:r>
          </a:p>
          <a:p>
            <a:pPr algn="ctr">
              <a:lnSpc>
                <a:spcPts val="3913"/>
              </a:lnSpc>
              <a:spcBef>
                <a:spcPct val="0"/>
              </a:spcBef>
            </a:pPr>
            <a:r>
              <a:rPr lang="en-US" sz="2302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Save LoRA Adapter</a:t>
            </a:r>
          </a:p>
          <a:p>
            <a:pPr algn="ctr">
              <a:lnSpc>
                <a:spcPts val="3913"/>
              </a:lnSpc>
              <a:spcBef>
                <a:spcPct val="0"/>
              </a:spcBef>
            </a:pPr>
            <a:r>
              <a:rPr lang="en-US" sz="2302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     ↓</a:t>
            </a:r>
          </a:p>
          <a:p>
            <a:pPr algn="ctr">
              <a:lnSpc>
                <a:spcPts val="3913"/>
              </a:lnSpc>
              <a:spcBef>
                <a:spcPct val="0"/>
              </a:spcBef>
            </a:pPr>
            <a:r>
              <a:rPr lang="en-US" sz="2302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Fine-tuned Translation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4384" y="599709"/>
            <a:ext cx="14072064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sng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Objective of the Proposed Model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4384" y="2933754"/>
            <a:ext cx="16569769" cy="1725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 design a </a:t>
            </a:r>
            <a:r>
              <a:rPr lang="en-US" sz="3299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memory-augmented</a:t>
            </a:r>
            <a:r>
              <a:rPr lang="en-US" sz="32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</a:t>
            </a:r>
            <a:r>
              <a:rPr lang="en-US" sz="3299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agentic machine translation system</a:t>
            </a:r>
            <a:r>
              <a:rPr lang="en-US" sz="32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for </a:t>
            </a:r>
            <a:r>
              <a:rPr lang="en-US" sz="3299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English-to-Hindi</a:t>
            </a:r>
            <a:r>
              <a:rPr lang="en-US" sz="32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that improves semantic accuracy, consistency, and robustness through </a:t>
            </a:r>
            <a:r>
              <a:rPr lang="en-US" sz="3299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iterative feedback</a:t>
            </a:r>
            <a:r>
              <a:rPr lang="en-US" sz="32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</a:t>
            </a:r>
            <a:r>
              <a:rPr lang="en-US" sz="3299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multi-agent</a:t>
            </a:r>
            <a:r>
              <a:rPr lang="en-US" sz="32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collaboration, and </a:t>
            </a:r>
            <a:r>
              <a:rPr lang="en-US" sz="3299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low-resource adaptation</a:t>
            </a:r>
            <a:r>
              <a:rPr lang="en-US" sz="32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39061" y="1684924"/>
            <a:ext cx="12009879" cy="8602076"/>
          </a:xfrm>
          <a:custGeom>
            <a:avLst/>
            <a:gdLst/>
            <a:ahLst/>
            <a:cxnLst/>
            <a:rect l="l" t="t" r="r" b="b"/>
            <a:pathLst>
              <a:path w="12009879" h="8602076">
                <a:moveTo>
                  <a:pt x="0" y="0"/>
                </a:moveTo>
                <a:lnTo>
                  <a:pt x="12009878" y="0"/>
                </a:lnTo>
                <a:lnTo>
                  <a:pt x="12009878" y="8602076"/>
                </a:lnTo>
                <a:lnTo>
                  <a:pt x="0" y="8602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599709"/>
            <a:ext cx="8115300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sng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Proposed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67597" y="1945589"/>
            <a:ext cx="15191703" cy="8013878"/>
          </a:xfrm>
          <a:custGeom>
            <a:avLst/>
            <a:gdLst/>
            <a:ahLst/>
            <a:cxnLst/>
            <a:rect l="l" t="t" r="r" b="b"/>
            <a:pathLst>
              <a:path w="15191703" h="8013878">
                <a:moveTo>
                  <a:pt x="0" y="0"/>
                </a:moveTo>
                <a:lnTo>
                  <a:pt x="15191703" y="0"/>
                </a:lnTo>
                <a:lnTo>
                  <a:pt x="15191703" y="8013879"/>
                </a:lnTo>
                <a:lnTo>
                  <a:pt x="0" y="8013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599709"/>
            <a:ext cx="8115300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sng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Proposed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9761" y="0"/>
            <a:ext cx="9838239" cy="10287000"/>
            <a:chOff x="0" y="0"/>
            <a:chExt cx="259114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91141" cy="2709333"/>
            </a:xfrm>
            <a:custGeom>
              <a:avLst/>
              <a:gdLst/>
              <a:ahLst/>
              <a:cxnLst/>
              <a:rect l="l" t="t" r="r" b="b"/>
              <a:pathLst>
                <a:path w="2591141" h="2709333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03987"/>
            <a:ext cx="9480749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sng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Evaluation Metrics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5927" y="2625993"/>
            <a:ext cx="16973373" cy="181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Measures the </a:t>
            </a:r>
            <a:r>
              <a:rPr lang="en-US" sz="28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lexical overlap</a:t>
            </a: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between the machine’s output and a human reference.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Calculates </a:t>
            </a:r>
            <a:r>
              <a:rPr lang="en-US" sz="28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n-gram precision</a:t>
            </a: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Fast and model-agnostic.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5927" y="6573001"/>
            <a:ext cx="16973373" cy="1196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Uses </a:t>
            </a:r>
            <a:r>
              <a:rPr lang="en-US" sz="28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character n-grams</a:t>
            </a: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and calculates an </a:t>
            </a:r>
            <a:r>
              <a:rPr lang="en-US" sz="28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F-score</a:t>
            </a: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(balancing precision and recall).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More effective for </a:t>
            </a:r>
            <a:r>
              <a:rPr lang="en-US" sz="28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morphologically rich languages</a:t>
            </a: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5927" y="2011538"/>
            <a:ext cx="8606683" cy="56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30"/>
              </a:lnSpc>
            </a:pPr>
            <a:r>
              <a:rPr lang="en-US" sz="2900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BLEU (Bilingual Evaluation Understudy)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5927" y="5813842"/>
            <a:ext cx="8606683" cy="56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30"/>
              </a:lnSpc>
            </a:pPr>
            <a:r>
              <a:rPr lang="en-US" sz="2900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chrF (Character n-gram F-score)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9761" y="0"/>
            <a:ext cx="9838239" cy="10287000"/>
            <a:chOff x="0" y="0"/>
            <a:chExt cx="259114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91141" cy="2709333"/>
            </a:xfrm>
            <a:custGeom>
              <a:avLst/>
              <a:gdLst/>
              <a:ahLst/>
              <a:cxnLst/>
              <a:rect l="l" t="t" r="r" b="b"/>
              <a:pathLst>
                <a:path w="2591141" h="2709333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03987"/>
            <a:ext cx="9480749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sng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Evaluation Metrics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5927" y="2597728"/>
            <a:ext cx="16973373" cy="181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Uses a </a:t>
            </a:r>
            <a:r>
              <a:rPr lang="en-US" sz="28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pre-trained model (BERT/RoBERTa)</a:t>
            </a: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to create </a:t>
            </a:r>
            <a:r>
              <a:rPr lang="en-US" sz="28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embeddings</a:t>
            </a: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for the machine translation and the human reference. Then calculates the </a:t>
            </a:r>
            <a:r>
              <a:rPr lang="en-US" sz="28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cosine similarity</a:t>
            </a: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between these vectors.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Rewards </a:t>
            </a:r>
            <a:r>
              <a:rPr lang="en-US" sz="28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paraphrasing</a:t>
            </a: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5927" y="6346874"/>
            <a:ext cx="16973373" cy="181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Trained neural model</a:t>
            </a: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takes three inputs: the </a:t>
            </a:r>
            <a:r>
              <a:rPr lang="en-US" sz="28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Source text</a:t>
            </a: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the </a:t>
            </a:r>
            <a:r>
              <a:rPr lang="en-US" sz="28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Machine Translation</a:t>
            </a: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and the </a:t>
            </a:r>
            <a:r>
              <a:rPr lang="en-US" sz="28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Human Reference</a:t>
            </a: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It is </a:t>
            </a:r>
            <a:r>
              <a:rPr lang="en-US" sz="28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source-aware</a:t>
            </a: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5927" y="1983272"/>
            <a:ext cx="8606683" cy="56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30"/>
              </a:lnSpc>
            </a:pPr>
            <a:r>
              <a:rPr lang="en-US" sz="2900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BERTScore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5927" y="5587715"/>
            <a:ext cx="14938232" cy="56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30"/>
              </a:lnSpc>
            </a:pPr>
            <a:r>
              <a:rPr lang="en-US" sz="2900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COMET (Cross-lingual Optimized Metric for Evaluation of Translation)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>
            <p:extLst>
              <p:ext uri="{D42A27DB-BD31-4B8C-83A1-F6EECF244321}">
                <p14:modId xmlns:p14="http://schemas.microsoft.com/office/powerpoint/2010/main" val="555466086"/>
              </p:ext>
            </p:extLst>
          </p:nvPr>
        </p:nvGraphicFramePr>
        <p:xfrm>
          <a:off x="4286250" y="3484563"/>
          <a:ext cx="18148300" cy="867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4515994" imgH="8732709" progId="Excel.Sheet.12">
                  <p:embed/>
                </p:oleObj>
              </mc:Choice>
              <mc:Fallback>
                <p:oleObj name="Worksheet" r:id="rId2" imgW="14515994" imgH="873270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86250" y="3484563"/>
                        <a:ext cx="18148300" cy="8677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028700" y="599709"/>
            <a:ext cx="1032659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sng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Results and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915847"/>
            <a:ext cx="16230600" cy="1196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29"/>
              </a:lnSpc>
            </a:pP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Performance Evaluation of the Proposed Agentic Machine Translation Model using a Large Language Model via Groq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599709"/>
            <a:ext cx="1032659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sng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Results and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3879" y="1920926"/>
            <a:ext cx="16230600" cy="577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29"/>
              </a:lnSpc>
            </a:pP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English to Hindi Translation Benchmark Table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4A52B1-D1B5-0B6A-A1ED-3DA36EF12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904007"/>
              </p:ext>
            </p:extLst>
          </p:nvPr>
        </p:nvGraphicFramePr>
        <p:xfrm>
          <a:off x="1038225" y="3162300"/>
          <a:ext cx="13592175" cy="5943600"/>
        </p:xfrm>
        <a:graphic>
          <a:graphicData uri="http://schemas.openxmlformats.org/drawingml/2006/table">
            <a:tbl>
              <a:tblPr/>
              <a:tblGrid>
                <a:gridCol w="2718435">
                  <a:extLst>
                    <a:ext uri="{9D8B030D-6E8A-4147-A177-3AD203B41FA5}">
                      <a16:colId xmlns:a16="http://schemas.microsoft.com/office/drawing/2014/main" val="1133366509"/>
                    </a:ext>
                  </a:extLst>
                </a:gridCol>
                <a:gridCol w="2718435">
                  <a:extLst>
                    <a:ext uri="{9D8B030D-6E8A-4147-A177-3AD203B41FA5}">
                      <a16:colId xmlns:a16="http://schemas.microsoft.com/office/drawing/2014/main" val="2692902492"/>
                    </a:ext>
                  </a:extLst>
                </a:gridCol>
                <a:gridCol w="2718435">
                  <a:extLst>
                    <a:ext uri="{9D8B030D-6E8A-4147-A177-3AD203B41FA5}">
                      <a16:colId xmlns:a16="http://schemas.microsoft.com/office/drawing/2014/main" val="572373613"/>
                    </a:ext>
                  </a:extLst>
                </a:gridCol>
                <a:gridCol w="2718435">
                  <a:extLst>
                    <a:ext uri="{9D8B030D-6E8A-4147-A177-3AD203B41FA5}">
                      <a16:colId xmlns:a16="http://schemas.microsoft.com/office/drawing/2014/main" val="413701799"/>
                    </a:ext>
                  </a:extLst>
                </a:gridCol>
                <a:gridCol w="2718435">
                  <a:extLst>
                    <a:ext uri="{9D8B030D-6E8A-4147-A177-3AD203B41FA5}">
                      <a16:colId xmlns:a16="http://schemas.microsoft.com/office/drawing/2014/main" val="1822677431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 dirty="0">
                          <a:solidFill>
                            <a:srgbClr val="1F1F1F"/>
                          </a:solidFill>
                          <a:effectLst/>
                        </a:rPr>
                        <a:t>Research/Task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Model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Dataset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Metric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Score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968899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MDPI (2022)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>
                          <a:solidFill>
                            <a:srgbClr val="1F1F1F"/>
                          </a:solidFill>
                          <a:effectLst/>
                        </a:rPr>
                        <a:t>Transformer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>
                          <a:solidFill>
                            <a:srgbClr val="1F1F1F"/>
                          </a:solidFill>
                          <a:effectLst/>
                        </a:rPr>
                        <a:t>Samanantar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>
                          <a:solidFill>
                            <a:srgbClr val="1F1F1F"/>
                          </a:solidFill>
                          <a:effectLst/>
                        </a:rPr>
                        <a:t>BLEU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33.45-33.72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84419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Meta AI (2022)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>
                          <a:solidFill>
                            <a:srgbClr val="1F1F1F"/>
                          </a:solidFill>
                          <a:effectLst/>
                        </a:rPr>
                        <a:t>NLLB-200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>
                          <a:solidFill>
                            <a:srgbClr val="1F1F1F"/>
                          </a:solidFill>
                          <a:effectLst/>
                        </a:rPr>
                        <a:t>Flores-200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>
                          <a:solidFill>
                            <a:srgbClr val="1F1F1F"/>
                          </a:solidFill>
                          <a:effectLst/>
                        </a:rPr>
                        <a:t>spBLEU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31.4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650784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AI4Bharat (2023)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>
                          <a:solidFill>
                            <a:srgbClr val="1F1F1F"/>
                          </a:solidFill>
                          <a:effectLst/>
                        </a:rPr>
                        <a:t>IndicTrans2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>
                          <a:solidFill>
                            <a:srgbClr val="1F1F1F"/>
                          </a:solidFill>
                          <a:effectLst/>
                        </a:rPr>
                        <a:t>Flores-200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>
                          <a:solidFill>
                            <a:srgbClr val="1F1F1F"/>
                          </a:solidFill>
                          <a:effectLst/>
                        </a:rPr>
                        <a:t>BLEU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35.8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72753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AI4Bharat (2023)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>
                          <a:solidFill>
                            <a:srgbClr val="1F1F1F"/>
                          </a:solidFill>
                          <a:effectLst/>
                        </a:rPr>
                        <a:t>IndicTrans2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dirty="0">
                          <a:solidFill>
                            <a:srgbClr val="1F1F1F"/>
                          </a:solidFill>
                          <a:effectLst/>
                        </a:rPr>
                        <a:t>IN22-Gen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>
                          <a:solidFill>
                            <a:srgbClr val="1F1F1F"/>
                          </a:solidFill>
                          <a:effectLst/>
                        </a:rPr>
                        <a:t>chrF++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 dirty="0">
                          <a:effectLst/>
                        </a:rPr>
                        <a:t>63-66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0728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99709"/>
            <a:ext cx="1032659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sng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Results and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0130" y="2155824"/>
            <a:ext cx="16230600" cy="581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9"/>
              </a:lnSpc>
            </a:pPr>
            <a:r>
              <a:rPr lang="en-US" sz="3399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Proposed Model</a:t>
            </a:r>
          </a:p>
          <a:p>
            <a:pPr algn="l">
              <a:lnSpc>
                <a:spcPts val="5779"/>
              </a:lnSpc>
            </a:pPr>
            <a:endParaRPr lang="en-US" sz="3399" b="1" u="sng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algn="l">
              <a:lnSpc>
                <a:spcPts val="5779"/>
              </a:lnSpc>
            </a:pPr>
            <a:r>
              <a:rPr lang="en-US" sz="33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Architecture:</a:t>
            </a:r>
            <a:r>
              <a:rPr lang="en-US" sz="33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Facebook/opt-1.3b</a:t>
            </a:r>
          </a:p>
          <a:p>
            <a:pPr algn="l">
              <a:lnSpc>
                <a:spcPts val="5779"/>
              </a:lnSpc>
            </a:pPr>
            <a:r>
              <a:rPr lang="en-US" sz="33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Fine-tuning method:</a:t>
            </a:r>
            <a:r>
              <a:rPr lang="en-US" sz="33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LoRA</a:t>
            </a:r>
          </a:p>
          <a:p>
            <a:pPr algn="l">
              <a:lnSpc>
                <a:spcPts val="5779"/>
              </a:lnSpc>
            </a:pPr>
            <a:r>
              <a:rPr lang="en-US" sz="33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Dataset:</a:t>
            </a:r>
            <a:r>
              <a:rPr lang="en-US" sz="33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Ai4bharat/samanantar</a:t>
            </a:r>
          </a:p>
          <a:p>
            <a:pPr algn="l">
              <a:lnSpc>
                <a:spcPts val="5779"/>
              </a:lnSpc>
            </a:pPr>
            <a:r>
              <a:rPr lang="en-US" sz="33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Language Pair:</a:t>
            </a:r>
            <a:r>
              <a:rPr lang="en-US" sz="33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En-Hi</a:t>
            </a:r>
          </a:p>
          <a:p>
            <a:pPr algn="l">
              <a:lnSpc>
                <a:spcPts val="5779"/>
              </a:lnSpc>
            </a:pPr>
            <a:r>
              <a:rPr lang="en-US" sz="33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Train Size:</a:t>
            </a:r>
            <a:r>
              <a:rPr lang="en-US" sz="33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10000</a:t>
            </a:r>
          </a:p>
          <a:p>
            <a:pPr marL="0" lvl="0" indent="0" algn="l">
              <a:lnSpc>
                <a:spcPts val="5779"/>
              </a:lnSpc>
            </a:pPr>
            <a:r>
              <a:rPr lang="en-US" sz="33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Epochs:</a:t>
            </a:r>
            <a:r>
              <a:rPr lang="en-US" sz="33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1028700" y="2562955"/>
          <a:ext cx="17067741" cy="6695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0472400" imgH="10096500" progId="Excel.Sheet.12">
                  <p:embed/>
                </p:oleObj>
              </mc:Choice>
              <mc:Fallback>
                <p:oleObj name="Worksheet" r:id="rId2" imgW="20472400" imgH="10096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700" y="2562955"/>
                        <a:ext cx="17067741" cy="6695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028700" y="599709"/>
            <a:ext cx="1153752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sng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Dataset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599709"/>
            <a:ext cx="1032659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sng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Results and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0130" y="1731488"/>
            <a:ext cx="16230600" cy="1196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29"/>
              </a:lnSpc>
            </a:pPr>
            <a:r>
              <a:rPr lang="en-US" sz="28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Performance Evaluation of the Proposed Agentic Machine Translation Model using Fine-Tuning Method and testing on FLORES-200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22BC6F-492D-E6F4-25C5-6AD52A5A6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822452"/>
              </p:ext>
            </p:extLst>
          </p:nvPr>
        </p:nvGraphicFramePr>
        <p:xfrm>
          <a:off x="1777384" y="3543300"/>
          <a:ext cx="13081616" cy="5867400"/>
        </p:xfrm>
        <a:graphic>
          <a:graphicData uri="http://schemas.openxmlformats.org/drawingml/2006/table">
            <a:tbl>
              <a:tblPr/>
              <a:tblGrid>
                <a:gridCol w="3270404">
                  <a:extLst>
                    <a:ext uri="{9D8B030D-6E8A-4147-A177-3AD203B41FA5}">
                      <a16:colId xmlns:a16="http://schemas.microsoft.com/office/drawing/2014/main" val="2786139158"/>
                    </a:ext>
                  </a:extLst>
                </a:gridCol>
                <a:gridCol w="3270404">
                  <a:extLst>
                    <a:ext uri="{9D8B030D-6E8A-4147-A177-3AD203B41FA5}">
                      <a16:colId xmlns:a16="http://schemas.microsoft.com/office/drawing/2014/main" val="2313846492"/>
                    </a:ext>
                  </a:extLst>
                </a:gridCol>
                <a:gridCol w="3270404">
                  <a:extLst>
                    <a:ext uri="{9D8B030D-6E8A-4147-A177-3AD203B41FA5}">
                      <a16:colId xmlns:a16="http://schemas.microsoft.com/office/drawing/2014/main" val="3336497645"/>
                    </a:ext>
                  </a:extLst>
                </a:gridCol>
                <a:gridCol w="3270404">
                  <a:extLst>
                    <a:ext uri="{9D8B030D-6E8A-4147-A177-3AD203B41FA5}">
                      <a16:colId xmlns:a16="http://schemas.microsoft.com/office/drawing/2014/main" val="2965535578"/>
                    </a:ext>
                  </a:extLst>
                </a:gridCol>
              </a:tblGrid>
              <a:tr h="1173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Evaluation Metric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IndicTrans2_3.3B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 dirty="0">
                          <a:solidFill>
                            <a:srgbClr val="1F1F1F"/>
                          </a:solidFill>
                          <a:effectLst/>
                        </a:rPr>
                        <a:t>mBART50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Proposed Model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216698"/>
                  </a:ext>
                </a:extLst>
              </a:tr>
              <a:tr h="1173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BLEU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>
                          <a:solidFill>
                            <a:srgbClr val="1F1F1F"/>
                          </a:solidFill>
                          <a:effectLst/>
                        </a:rPr>
                        <a:t>15.75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>
                          <a:solidFill>
                            <a:srgbClr val="1F1F1F"/>
                          </a:solidFill>
                          <a:effectLst/>
                        </a:rPr>
                        <a:t>14.8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9.14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124919"/>
                  </a:ext>
                </a:extLst>
              </a:tr>
              <a:tr h="1173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chrF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>
                          <a:solidFill>
                            <a:srgbClr val="1F1F1F"/>
                          </a:solidFill>
                          <a:effectLst/>
                        </a:rPr>
                        <a:t>33.21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>
                          <a:solidFill>
                            <a:srgbClr val="1F1F1F"/>
                          </a:solidFill>
                          <a:effectLst/>
                        </a:rPr>
                        <a:t>27.59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29.87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20706"/>
                  </a:ext>
                </a:extLst>
              </a:tr>
              <a:tr h="1173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BERTScore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dirty="0">
                          <a:solidFill>
                            <a:srgbClr val="1F1F1F"/>
                          </a:solidFill>
                          <a:effectLst/>
                        </a:rPr>
                        <a:t>0.6142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>
                          <a:solidFill>
                            <a:srgbClr val="1F1F1F"/>
                          </a:solidFill>
                          <a:effectLst/>
                        </a:rPr>
                        <a:t>0.5738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0.5983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487095"/>
                  </a:ext>
                </a:extLst>
              </a:tr>
              <a:tr h="1173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>
                          <a:solidFill>
                            <a:srgbClr val="1F1F1F"/>
                          </a:solidFill>
                          <a:effectLst/>
                        </a:rPr>
                        <a:t>COMET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>
                          <a:solidFill>
                            <a:srgbClr val="1F1F1F"/>
                          </a:solidFill>
                          <a:effectLst/>
                        </a:rPr>
                        <a:t>0.582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>
                          <a:solidFill>
                            <a:srgbClr val="1F1F1F"/>
                          </a:solidFill>
                          <a:effectLst/>
                        </a:rPr>
                        <a:t>0.5192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b="1" dirty="0">
                          <a:solidFill>
                            <a:srgbClr val="1F1F1F"/>
                          </a:solidFill>
                          <a:effectLst/>
                        </a:rPr>
                        <a:t>0.5267</a:t>
                      </a:r>
                    </a:p>
                  </a:txBody>
                  <a:tcPr marL="77266" marR="77266" marT="38633" marB="386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4746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23513" y="1900125"/>
            <a:ext cx="12689126" cy="3489510"/>
          </a:xfrm>
          <a:custGeom>
            <a:avLst/>
            <a:gdLst/>
            <a:ahLst/>
            <a:cxnLst/>
            <a:rect l="l" t="t" r="r" b="b"/>
            <a:pathLst>
              <a:path w="12689126" h="3489510">
                <a:moveTo>
                  <a:pt x="0" y="0"/>
                </a:moveTo>
                <a:lnTo>
                  <a:pt x="12689126" y="0"/>
                </a:lnTo>
                <a:lnTo>
                  <a:pt x="12689126" y="3489510"/>
                </a:lnTo>
                <a:lnTo>
                  <a:pt x="0" y="3489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23513" y="5604836"/>
            <a:ext cx="12689126" cy="4282580"/>
          </a:xfrm>
          <a:custGeom>
            <a:avLst/>
            <a:gdLst/>
            <a:ahLst/>
            <a:cxnLst/>
            <a:rect l="l" t="t" r="r" b="b"/>
            <a:pathLst>
              <a:path w="12689126" h="4282580">
                <a:moveTo>
                  <a:pt x="0" y="0"/>
                </a:moveTo>
                <a:lnTo>
                  <a:pt x="12689126" y="0"/>
                </a:lnTo>
                <a:lnTo>
                  <a:pt x="12689126" y="4282580"/>
                </a:lnTo>
                <a:lnTo>
                  <a:pt x="0" y="4282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599709"/>
            <a:ext cx="1032659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sng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Output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28942"/>
            <a:ext cx="1153482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sng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Model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7014" y="1866070"/>
            <a:ext cx="17100100" cy="684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l">
              <a:lnSpc>
                <a:spcPts val="4929"/>
              </a:lnSpc>
              <a:buAutoNum type="arabicPeriod"/>
            </a:pP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The Enrichment Node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Stanza NER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uses a </a:t>
            </a:r>
            <a:r>
              <a:rPr lang="en-US" sz="2899" b="1" u="sng" dirty="0" err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BiLSTM</a:t>
            </a: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-CRF neural model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trained on</a:t>
            </a: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899" b="1" u="sng" dirty="0" err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CoNLL</a:t>
            </a: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data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to label every token.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TIMEX tagging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uses regex patterns.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WordNet sense disambiguation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899" dirty="0" err="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tokenises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the sentence, </a:t>
            </a: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POS-tags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it with </a:t>
            </a: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NLTK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and then proceed with queries.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 b="1" u="sng" dirty="0" err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DBpedia</a:t>
            </a: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SPARQL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fires a real HTTP query.</a:t>
            </a:r>
          </a:p>
          <a:p>
            <a:pPr marL="313053" lvl="1" algn="l">
              <a:lnSpc>
                <a:spcPts val="4929"/>
              </a:lnSpc>
            </a:pPr>
            <a:endParaRPr lang="en-US" sz="2899" dirty="0">
              <a:solidFill>
                <a:srgbClr val="0F4662"/>
              </a:solidFill>
              <a:latin typeface="Quicksand"/>
              <a:ea typeface="Quicksand Bold"/>
              <a:cs typeface="Quicksand Bold"/>
              <a:sym typeface="Quicksand"/>
            </a:endParaRPr>
          </a:p>
          <a:p>
            <a:pPr marL="313053" lvl="1" algn="l">
              <a:lnSpc>
                <a:spcPts val="4929"/>
              </a:lnSpc>
            </a:pPr>
            <a:r>
              <a:rPr lang="en-US" sz="2899" b="1" u="sng" dirty="0">
                <a:solidFill>
                  <a:srgbClr val="0F4662"/>
                </a:solidFill>
                <a:latin typeface="Quicksand"/>
                <a:ea typeface="Quicksand Bold"/>
                <a:cs typeface="Quicksand Bold"/>
                <a:sym typeface="Quicksand"/>
              </a:rPr>
              <a:t>2. </a:t>
            </a: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The Knowledge Graph Node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Dynamic,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for each entity that is </a:t>
            </a:r>
            <a:r>
              <a:rPr lang="en-US" sz="2899" dirty="0" err="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recognised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and translated in that session gets added via memory update node.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Backed by </a:t>
            </a:r>
            <a:r>
              <a:rPr lang="en-US" sz="2899" b="1" u="sng" dirty="0" err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NetworkX</a:t>
            </a: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28942"/>
            <a:ext cx="1153482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sng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Model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3950" y="1542049"/>
            <a:ext cx="17100100" cy="872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3053" lvl="1" algn="l">
              <a:lnSpc>
                <a:spcPts val="4929"/>
              </a:lnSpc>
            </a:pP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3. </a:t>
            </a: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The MCP Tool Registry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Name-Value Python Dictionary.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 b="1" u="sng" dirty="0" err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LangGraph</a:t>
            </a: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node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initiates the call for a particular entity,</a:t>
            </a: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MCP client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looks up the tool by name and invoking it with typed arguments.</a:t>
            </a:r>
          </a:p>
          <a:p>
            <a:pPr algn="l">
              <a:lnSpc>
                <a:spcPts val="4929"/>
              </a:lnSpc>
            </a:pPr>
            <a:endParaRPr lang="en-US" sz="2899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13053" lvl="1" algn="l">
              <a:lnSpc>
                <a:spcPts val="4929"/>
              </a:lnSpc>
            </a:pP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4. The Embedding Node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Encodes the sentence with </a:t>
            </a:r>
            <a:r>
              <a:rPr lang="en-US" sz="2899" b="1" u="sng" dirty="0" err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LaBSE</a:t>
            </a: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.</a:t>
            </a:r>
          </a:p>
          <a:p>
            <a:pPr algn="l">
              <a:lnSpc>
                <a:spcPts val="4929"/>
              </a:lnSpc>
            </a:pPr>
            <a:endParaRPr lang="en-US" sz="2899" b="1" u="sng" dirty="0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313053" lvl="1" algn="l">
              <a:lnSpc>
                <a:spcPts val="4929"/>
              </a:lnSpc>
            </a:pP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5. The Translation Node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Semantic Knowledge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from </a:t>
            </a:r>
            <a:r>
              <a:rPr lang="en-US" sz="2899" b="1" u="sng" dirty="0" err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ChromaDB</a:t>
            </a: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.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Episodic Examples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from </a:t>
            </a: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past translations.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Working Memory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from </a:t>
            </a: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current session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Enrichment context.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KG context.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28942"/>
            <a:ext cx="1153482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sng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Model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3950" y="2089149"/>
            <a:ext cx="17100100" cy="305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3053" lvl="1" algn="l">
              <a:lnSpc>
                <a:spcPts val="4929"/>
              </a:lnSpc>
            </a:pP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6. </a:t>
            </a: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The Evaluator Node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BLEU, </a:t>
            </a:r>
            <a:r>
              <a:rPr lang="en-US" sz="2899" dirty="0" err="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BERTScore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</a:t>
            </a:r>
            <a:r>
              <a:rPr lang="en-US" sz="2899" dirty="0" err="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chRf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COMET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Updates all three memory tiers.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Add new entity pairs to the KG.</a:t>
            </a:r>
          </a:p>
          <a:p>
            <a:pPr marL="626107" lvl="1" indent="-313054" algn="l">
              <a:lnSpc>
                <a:spcPts val="4929"/>
              </a:lnSpc>
              <a:buFont typeface="Arial"/>
              <a:buChar char="•"/>
            </a:pP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Proceed either to the </a:t>
            </a: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output node 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or retry the </a:t>
            </a:r>
            <a:r>
              <a:rPr lang="en-US" sz="2899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translation</a:t>
            </a:r>
            <a:r>
              <a:rPr lang="en-US" sz="289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1244" y="428942"/>
            <a:ext cx="1153482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sng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Future Scope and 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70453" y="6557572"/>
            <a:ext cx="17347093" cy="304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0"/>
              </a:lnSpc>
            </a:pPr>
            <a:r>
              <a:rPr lang="en-US" sz="2900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Conclusion:</a:t>
            </a:r>
          </a:p>
          <a:p>
            <a:pPr algn="l">
              <a:lnSpc>
                <a:spcPts val="4930"/>
              </a:lnSpc>
            </a:pPr>
            <a:endParaRPr lang="en-US" sz="2900" b="1" u="sng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0" lvl="0" indent="0" algn="l">
              <a:lnSpc>
                <a:spcPts val="4930"/>
              </a:lnSpc>
            </a:pPr>
            <a:r>
              <a:rPr lang="en-US" sz="29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This thesis presented a comprehensive approach to </a:t>
            </a:r>
            <a:r>
              <a:rPr lang="en-US" sz="2900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English-to-Hindi machine translation</a:t>
            </a:r>
            <a:r>
              <a:rPr lang="en-US" sz="29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by integrating </a:t>
            </a:r>
            <a:r>
              <a:rPr lang="en-US" sz="2900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agentic artificial intelligence</a:t>
            </a:r>
            <a:r>
              <a:rPr lang="en-US" sz="29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with</a:t>
            </a:r>
            <a:r>
              <a:rPr lang="en-US" sz="2900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memory-augmented neural architectures</a:t>
            </a:r>
            <a:r>
              <a:rPr lang="en-US" sz="29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enabling </a:t>
            </a:r>
            <a:r>
              <a:rPr lang="en-US" sz="2900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modular</a:t>
            </a:r>
            <a:r>
              <a:rPr lang="en-US" sz="29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and </a:t>
            </a:r>
            <a:r>
              <a:rPr lang="en-US" sz="2900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autonomous</a:t>
            </a:r>
            <a:r>
              <a:rPr lang="en-US" sz="29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decision-making model.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0453" y="1979223"/>
            <a:ext cx="17347093" cy="4330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0"/>
              </a:lnSpc>
            </a:pPr>
            <a:r>
              <a:rPr lang="en-US" sz="2900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Future Work:</a:t>
            </a:r>
          </a:p>
          <a:p>
            <a:pPr algn="l">
              <a:lnSpc>
                <a:spcPts val="4930"/>
              </a:lnSpc>
            </a:pPr>
            <a:endParaRPr lang="en-US" sz="2900" b="1" u="sng" dirty="0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626111" lvl="1" indent="-313055" algn="l">
              <a:lnSpc>
                <a:spcPts val="4930"/>
              </a:lnSpc>
              <a:buAutoNum type="arabicPeriod"/>
            </a:pPr>
            <a:r>
              <a:rPr lang="en-US" sz="2900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9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Support to a wider range of</a:t>
            </a:r>
            <a:r>
              <a:rPr lang="en-US" sz="2900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low-resource languages.</a:t>
            </a:r>
          </a:p>
          <a:p>
            <a:pPr algn="l">
              <a:lnSpc>
                <a:spcPts val="4930"/>
              </a:lnSpc>
            </a:pPr>
            <a:endParaRPr lang="en-US" sz="2900" b="1" u="sng" dirty="0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313056" lvl="1" algn="l">
              <a:lnSpc>
                <a:spcPts val="4930"/>
              </a:lnSpc>
            </a:pPr>
            <a:r>
              <a:rPr lang="en-US" sz="29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2. Dealing with the </a:t>
            </a:r>
            <a:r>
              <a:rPr lang="en-US" sz="2900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adversarial examples </a:t>
            </a:r>
            <a:r>
              <a:rPr lang="en-US" sz="29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and improving </a:t>
            </a:r>
            <a:r>
              <a:rPr lang="en-US" sz="2900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adversarial robustness.</a:t>
            </a:r>
          </a:p>
          <a:p>
            <a:pPr algn="l">
              <a:lnSpc>
                <a:spcPts val="4930"/>
              </a:lnSpc>
            </a:pPr>
            <a:endParaRPr lang="en-US" sz="2900" b="1" u="sng" dirty="0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313056" lvl="1" algn="l">
              <a:lnSpc>
                <a:spcPts val="4930"/>
              </a:lnSpc>
            </a:pPr>
            <a:r>
              <a:rPr lang="en-US" sz="29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3. Optimizing the </a:t>
            </a:r>
            <a:r>
              <a:rPr lang="en-US" sz="2900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agentic framework</a:t>
            </a:r>
            <a:r>
              <a:rPr lang="en-US" sz="29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for </a:t>
            </a:r>
            <a:r>
              <a:rPr lang="en-US" sz="2900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latency </a:t>
            </a:r>
            <a:r>
              <a:rPr lang="en-US" sz="29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and </a:t>
            </a:r>
            <a:r>
              <a:rPr lang="en-US" sz="2900" b="1" u="sng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deployment in real-time applications.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-56515"/>
            <a:ext cx="1153482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sng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Referred Papers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8748" y="1084151"/>
            <a:ext cx="16930504" cy="880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9"/>
              </a:lnSpc>
            </a:pPr>
            <a:r>
              <a:rPr lang="en-US" sz="25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1) Are AI agents the new machine translation frontier? Challenges and opportunities of single- and multi-agent systems for multilingual digital communication, </a:t>
            </a:r>
            <a:r>
              <a:rPr lang="en-US" sz="2599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Journal: arXiv, Publication Year: 2025</a:t>
            </a:r>
          </a:p>
          <a:p>
            <a:pPr algn="l">
              <a:lnSpc>
                <a:spcPts val="4419"/>
              </a:lnSpc>
            </a:pPr>
            <a:endParaRPr lang="en-US" sz="2599" b="1" u="sng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algn="l">
              <a:lnSpc>
                <a:spcPts val="4419"/>
              </a:lnSpc>
            </a:pPr>
            <a:r>
              <a:rPr lang="en-US" sz="25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2) Agent-as-a-Graph: Knowledge Graph-Based Tool and Agent Retrieval for LLM Multi-Agent Systems, </a:t>
            </a:r>
          </a:p>
          <a:p>
            <a:pPr algn="l">
              <a:lnSpc>
                <a:spcPts val="4419"/>
              </a:lnSpc>
            </a:pPr>
            <a:r>
              <a:rPr lang="en-US" sz="2599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Journal: arXiv, Publication Year: 2025</a:t>
            </a:r>
          </a:p>
          <a:p>
            <a:pPr algn="l">
              <a:lnSpc>
                <a:spcPts val="4419"/>
              </a:lnSpc>
            </a:pPr>
            <a:endParaRPr lang="en-US" sz="2599" b="1" u="sng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algn="l">
              <a:lnSpc>
                <a:spcPts val="4419"/>
              </a:lnSpc>
            </a:pPr>
            <a:r>
              <a:rPr lang="en-US" sz="25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3) Leveraging the Power of Large Language Models in Entity Linking via Adaptive Routing and Targeted Reasoning, </a:t>
            </a:r>
            <a:r>
              <a:rPr lang="en-US" sz="2599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Journal: Association for Computational Linguistics, Publication Year: 2025</a:t>
            </a:r>
          </a:p>
          <a:p>
            <a:pPr algn="l">
              <a:lnSpc>
                <a:spcPts val="4419"/>
              </a:lnSpc>
            </a:pPr>
            <a:endParaRPr lang="en-US" sz="2599" b="1" u="sng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algn="l">
              <a:lnSpc>
                <a:spcPts val="4419"/>
              </a:lnSpc>
            </a:pPr>
            <a:r>
              <a:rPr lang="en-US" sz="25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4) Transformers: Leveraging OpenNMT and Transfer Learning for Low-Resource Indian Language Translation, </a:t>
            </a:r>
            <a:r>
              <a:rPr lang="en-US" sz="2599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Journal: Association for Computational Linguistics, Publication Year: 2025</a:t>
            </a:r>
          </a:p>
          <a:p>
            <a:pPr algn="l">
              <a:lnSpc>
                <a:spcPts val="4419"/>
              </a:lnSpc>
            </a:pPr>
            <a:endParaRPr lang="en-US" sz="2599" b="1" u="sng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algn="l">
              <a:lnSpc>
                <a:spcPts val="4419"/>
              </a:lnSpc>
            </a:pPr>
            <a:r>
              <a:rPr lang="en-US" sz="25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5) Reinforcement of low-resource language translation with neural machine translation and backtranslation synergies, </a:t>
            </a:r>
            <a:r>
              <a:rPr lang="en-US" sz="2599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Journal: International Journal of Artificial Intelligence, Publication Year: 2024</a:t>
            </a:r>
          </a:p>
          <a:p>
            <a:pPr algn="l">
              <a:lnSpc>
                <a:spcPts val="4419"/>
              </a:lnSpc>
            </a:pPr>
            <a:endParaRPr lang="en-US" sz="2599" b="1" u="sng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0" lvl="0" indent="0" algn="l">
              <a:lnSpc>
                <a:spcPts val="4419"/>
              </a:lnSpc>
            </a:pPr>
            <a:r>
              <a:rPr lang="en-US" sz="25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6) mT5: A massively multilingual pre-trained text-to-text transformer, </a:t>
            </a:r>
            <a:r>
              <a:rPr lang="en-US" sz="2599" b="1" u="sng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Journal: arXiv, Publication Year: 2021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42710" y="2302864"/>
            <a:ext cx="11402580" cy="318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09"/>
              </a:lnSpc>
              <a:spcBef>
                <a:spcPct val="0"/>
              </a:spcBef>
            </a:pPr>
            <a:r>
              <a:rPr lang="en-US" sz="18577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304001" y="111666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304001" y="90084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656255" y="5976509"/>
            <a:ext cx="10655487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89"/>
              </a:lnSpc>
            </a:pPr>
            <a:r>
              <a:rPr lang="en-US" sz="26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Presented By:</a:t>
            </a: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699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Divyanshi Chauhan, 21074012</a:t>
            </a:r>
          </a:p>
          <a:p>
            <a:pPr marL="0" lvl="0" indent="0" algn="r">
              <a:lnSpc>
                <a:spcPts val="4589"/>
              </a:lnSpc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divyanshi.chauhan.cse21@itbhu.ac.in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1238</Words>
  <Application>Microsoft Office PowerPoint</Application>
  <PresentationFormat>Custom</PresentationFormat>
  <Paragraphs>243</Paragraphs>
  <Slides>22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Cormorant Garamond Bold Italics</vt:lpstr>
      <vt:lpstr>Arial</vt:lpstr>
      <vt:lpstr>Quicksand Bold</vt:lpstr>
      <vt:lpstr>Quicksand</vt:lpstr>
      <vt:lpstr>Calibri</vt:lpstr>
      <vt:lpstr>Office Theme</vt:lpstr>
      <vt:lpstr>Microsoft Excel Worksheet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Memory-Augmented Neural Machine Translation for English-Hindi with LoRA-Optimized Large Language Models</dc:title>
  <cp:lastModifiedBy>Divyanshi Chauhan</cp:lastModifiedBy>
  <cp:revision>2</cp:revision>
  <dcterms:created xsi:type="dcterms:W3CDTF">2006-08-16T00:00:00Z</dcterms:created>
  <dcterms:modified xsi:type="dcterms:W3CDTF">2026-04-26T07:34:46Z</dcterms:modified>
  <dc:identifier>DAHHjUB1-bc</dc:identifier>
</cp:coreProperties>
</file>